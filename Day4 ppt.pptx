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56" r:id="rId6"/>
    <p:sldId id="257" r:id="rId7"/>
    <p:sldId id="258" r:id="rId8"/>
    <p:sldId id="259" r:id="rId9"/>
    <p:sldId id="260" r:id="rId10"/>
    <p:sldId id="261" r:id="rId11"/>
    <p:sldId id="262"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E830DE-A75E-4B9C-AFCF-D01B58971EA5}" v="42" dt="2025-01-06T12:11:06.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5.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ena, S" userId="ed1721d9-bbd2-4612-a107-071ec8c55a6e" providerId="ADAL" clId="{0AE830DE-A75E-4B9C-AFCF-D01B58971EA5}"/>
    <pc:docChg chg="undo custSel addSld modSld">
      <pc:chgData name="Veena, S" userId="ed1721d9-bbd2-4612-a107-071ec8c55a6e" providerId="ADAL" clId="{0AE830DE-A75E-4B9C-AFCF-D01B58971EA5}" dt="2025-01-06T12:11:29.187" v="1618" actId="20577"/>
      <pc:docMkLst>
        <pc:docMk/>
      </pc:docMkLst>
      <pc:sldChg chg="modSp mod">
        <pc:chgData name="Veena, S" userId="ed1721d9-bbd2-4612-a107-071ec8c55a6e" providerId="ADAL" clId="{0AE830DE-A75E-4B9C-AFCF-D01B58971EA5}" dt="2025-01-06T12:11:29.187" v="1618" actId="20577"/>
        <pc:sldMkLst>
          <pc:docMk/>
          <pc:sldMk cId="3075809783" sldId="256"/>
        </pc:sldMkLst>
        <pc:spChg chg="mod">
          <ac:chgData name="Veena, S" userId="ed1721d9-bbd2-4612-a107-071ec8c55a6e" providerId="ADAL" clId="{0AE830DE-A75E-4B9C-AFCF-D01B58971EA5}" dt="2025-01-06T12:11:29.187" v="1618" actId="20577"/>
          <ac:spMkLst>
            <pc:docMk/>
            <pc:sldMk cId="3075809783" sldId="256"/>
            <ac:spMk id="3" creationId="{C683C1EC-5386-48D6-00DC-FB407F090C8A}"/>
          </ac:spMkLst>
        </pc:spChg>
      </pc:sldChg>
      <pc:sldChg chg="addSp modSp new mod">
        <pc:chgData name="Veena, S" userId="ed1721d9-bbd2-4612-a107-071ec8c55a6e" providerId="ADAL" clId="{0AE830DE-A75E-4B9C-AFCF-D01B58971EA5}" dt="2025-01-06T03:22:38.354" v="268" actId="20577"/>
        <pc:sldMkLst>
          <pc:docMk/>
          <pc:sldMk cId="613515852" sldId="261"/>
        </pc:sldMkLst>
        <pc:spChg chg="add mod">
          <ac:chgData name="Veena, S" userId="ed1721d9-bbd2-4612-a107-071ec8c55a6e" providerId="ADAL" clId="{0AE830DE-A75E-4B9C-AFCF-D01B58971EA5}" dt="2025-01-06T03:22:38.354" v="268" actId="20577"/>
          <ac:spMkLst>
            <pc:docMk/>
            <pc:sldMk cId="613515852" sldId="261"/>
            <ac:spMk id="2" creationId="{C10487D5-F89F-312C-C5F1-FDD06CB017DA}"/>
          </ac:spMkLst>
        </pc:spChg>
      </pc:sldChg>
      <pc:sldChg chg="addSp new">
        <pc:chgData name="Veena, S" userId="ed1721d9-bbd2-4612-a107-071ec8c55a6e" providerId="ADAL" clId="{0AE830DE-A75E-4B9C-AFCF-D01B58971EA5}" dt="2025-01-06T03:23:22.571" v="270"/>
        <pc:sldMkLst>
          <pc:docMk/>
          <pc:sldMk cId="1365606638" sldId="262"/>
        </pc:sldMkLst>
        <pc:picChg chg="add">
          <ac:chgData name="Veena, S" userId="ed1721d9-bbd2-4612-a107-071ec8c55a6e" providerId="ADAL" clId="{0AE830DE-A75E-4B9C-AFCF-D01B58971EA5}" dt="2025-01-06T03:23:22.571" v="270"/>
          <ac:picMkLst>
            <pc:docMk/>
            <pc:sldMk cId="1365606638" sldId="262"/>
            <ac:picMk id="1026" creationId="{EB9A96C3-9661-CA31-95C5-9A90469FB1C7}"/>
          </ac:picMkLst>
        </pc:picChg>
      </pc:sldChg>
      <pc:sldChg chg="addSp modSp new mod">
        <pc:chgData name="Veena, S" userId="ed1721d9-bbd2-4612-a107-071ec8c55a6e" providerId="ADAL" clId="{0AE830DE-A75E-4B9C-AFCF-D01B58971EA5}" dt="2025-01-06T11:30:06.156" v="1296" actId="20577"/>
        <pc:sldMkLst>
          <pc:docMk/>
          <pc:sldMk cId="2932027070" sldId="263"/>
        </pc:sldMkLst>
        <pc:spChg chg="add mod">
          <ac:chgData name="Veena, S" userId="ed1721d9-bbd2-4612-a107-071ec8c55a6e" providerId="ADAL" clId="{0AE830DE-A75E-4B9C-AFCF-D01B58971EA5}" dt="2025-01-06T11:30:06.156" v="1296" actId="20577"/>
          <ac:spMkLst>
            <pc:docMk/>
            <pc:sldMk cId="2932027070" sldId="263"/>
            <ac:spMk id="2" creationId="{5E6C4AF0-1C3C-93EA-5EE0-B3FDBB937215}"/>
          </ac:spMkLst>
        </pc:spChg>
        <pc:graphicFrameChg chg="add mod">
          <ac:chgData name="Veena, S" userId="ed1721d9-bbd2-4612-a107-071ec8c55a6e" providerId="ADAL" clId="{0AE830DE-A75E-4B9C-AFCF-D01B58971EA5}" dt="2025-01-06T04:00:58.308" v="374"/>
          <ac:graphicFrameMkLst>
            <pc:docMk/>
            <pc:sldMk cId="2932027070" sldId="263"/>
            <ac:graphicFrameMk id="3" creationId="{EFD6AF93-74BA-5496-1A5F-0D3E52EB6063}"/>
          </ac:graphicFrameMkLst>
        </pc:graphicFrameChg>
        <pc:graphicFrameChg chg="add mod">
          <ac:chgData name="Veena, S" userId="ed1721d9-bbd2-4612-a107-071ec8c55a6e" providerId="ADAL" clId="{0AE830DE-A75E-4B9C-AFCF-D01B58971EA5}" dt="2025-01-06T04:00:58.308" v="374"/>
          <ac:graphicFrameMkLst>
            <pc:docMk/>
            <pc:sldMk cId="2932027070" sldId="263"/>
            <ac:graphicFrameMk id="4" creationId="{7432457E-3004-7955-855A-B0FE77443520}"/>
          </ac:graphicFrameMkLst>
        </pc:graphicFrameChg>
        <pc:graphicFrameChg chg="add mod">
          <ac:chgData name="Veena, S" userId="ed1721d9-bbd2-4612-a107-071ec8c55a6e" providerId="ADAL" clId="{0AE830DE-A75E-4B9C-AFCF-D01B58971EA5}" dt="2025-01-06T04:00:58.308" v="374"/>
          <ac:graphicFrameMkLst>
            <pc:docMk/>
            <pc:sldMk cId="2932027070" sldId="263"/>
            <ac:graphicFrameMk id="5" creationId="{1BD102AD-EE7F-F8CA-6D51-2DC0086A0FC0}"/>
          </ac:graphicFrameMkLst>
        </pc:graphicFrameChg>
        <pc:graphicFrameChg chg="add mod">
          <ac:chgData name="Veena, S" userId="ed1721d9-bbd2-4612-a107-071ec8c55a6e" providerId="ADAL" clId="{0AE830DE-A75E-4B9C-AFCF-D01B58971EA5}" dt="2025-01-06T04:00:58.308" v="374"/>
          <ac:graphicFrameMkLst>
            <pc:docMk/>
            <pc:sldMk cId="2932027070" sldId="263"/>
            <ac:graphicFrameMk id="6" creationId="{D77FA845-A917-8D24-4A8F-BE6486BACDDD}"/>
          </ac:graphicFrameMkLst>
        </pc:graphicFrameChg>
        <pc:graphicFrameChg chg="add mod">
          <ac:chgData name="Veena, S" userId="ed1721d9-bbd2-4612-a107-071ec8c55a6e" providerId="ADAL" clId="{0AE830DE-A75E-4B9C-AFCF-D01B58971EA5}" dt="2025-01-06T04:00:58.308" v="374"/>
          <ac:graphicFrameMkLst>
            <pc:docMk/>
            <pc:sldMk cId="2932027070" sldId="263"/>
            <ac:graphicFrameMk id="7" creationId="{11DBD9C3-0428-41F1-F5CC-F579B7F92F25}"/>
          </ac:graphicFrameMkLst>
        </pc:graphicFrameChg>
      </pc:sldChg>
      <pc:sldChg chg="addSp delSp modSp new mod">
        <pc:chgData name="Veena, S" userId="ed1721d9-bbd2-4612-a107-071ec8c55a6e" providerId="ADAL" clId="{0AE830DE-A75E-4B9C-AFCF-D01B58971EA5}" dt="2025-01-06T12:11:06.823" v="1594" actId="14100"/>
        <pc:sldMkLst>
          <pc:docMk/>
          <pc:sldMk cId="1392043866" sldId="264"/>
        </pc:sldMkLst>
        <pc:spChg chg="add mod">
          <ac:chgData name="Veena, S" userId="ed1721d9-bbd2-4612-a107-071ec8c55a6e" providerId="ADAL" clId="{0AE830DE-A75E-4B9C-AFCF-D01B58971EA5}" dt="2025-01-06T11:56:56.844" v="1587" actId="113"/>
          <ac:spMkLst>
            <pc:docMk/>
            <pc:sldMk cId="1392043866" sldId="264"/>
            <ac:spMk id="2" creationId="{06CDD20C-E5EC-EB37-7AD9-46C655B1D70D}"/>
          </ac:spMkLst>
        </pc:spChg>
        <pc:picChg chg="add del mod">
          <ac:chgData name="Veena, S" userId="ed1721d9-bbd2-4612-a107-071ec8c55a6e" providerId="ADAL" clId="{0AE830DE-A75E-4B9C-AFCF-D01B58971EA5}" dt="2025-01-06T12:10:59.630" v="1591" actId="478"/>
          <ac:picMkLst>
            <pc:docMk/>
            <pc:sldMk cId="1392043866" sldId="264"/>
            <ac:picMk id="1026" creationId="{2FE431CE-A059-13D3-7A2A-56EE4EBD8C2D}"/>
          </ac:picMkLst>
        </pc:picChg>
        <pc:picChg chg="add mod">
          <ac:chgData name="Veena, S" userId="ed1721d9-bbd2-4612-a107-071ec8c55a6e" providerId="ADAL" clId="{0AE830DE-A75E-4B9C-AFCF-D01B58971EA5}" dt="2025-01-06T11:31:54.862" v="1385" actId="1076"/>
          <ac:picMkLst>
            <pc:docMk/>
            <pc:sldMk cId="1392043866" sldId="264"/>
            <ac:picMk id="1026" creationId="{B668DDFF-A6E3-D93E-A0EC-7E397E367C68}"/>
          </ac:picMkLst>
        </pc:picChg>
        <pc:picChg chg="add mod">
          <ac:chgData name="Veena, S" userId="ed1721d9-bbd2-4612-a107-071ec8c55a6e" providerId="ADAL" clId="{0AE830DE-A75E-4B9C-AFCF-D01B58971EA5}" dt="2025-01-06T11:32:14.060" v="1398" actId="14100"/>
          <ac:picMkLst>
            <pc:docMk/>
            <pc:sldMk cId="1392043866" sldId="264"/>
            <ac:picMk id="1028" creationId="{425EE404-5F40-676A-79D4-BD256BF27E16}"/>
          </ac:picMkLst>
        </pc:picChg>
        <pc:picChg chg="add mod">
          <ac:chgData name="Veena, S" userId="ed1721d9-bbd2-4612-a107-071ec8c55a6e" providerId="ADAL" clId="{0AE830DE-A75E-4B9C-AFCF-D01B58971EA5}" dt="2025-01-06T12:11:06.823" v="1594" actId="14100"/>
          <ac:picMkLst>
            <pc:docMk/>
            <pc:sldMk cId="1392043866" sldId="264"/>
            <ac:picMk id="1028" creationId="{E960CE5E-EE3C-E095-6247-BF5553D2D7C2}"/>
          </ac:picMkLst>
        </pc:picChg>
        <pc:picChg chg="add del mod">
          <ac:chgData name="Veena, S" userId="ed1721d9-bbd2-4612-a107-071ec8c55a6e" providerId="ADAL" clId="{0AE830DE-A75E-4B9C-AFCF-D01B58971EA5}" dt="2025-01-06T12:10:31.962" v="1588" actId="478"/>
          <ac:picMkLst>
            <pc:docMk/>
            <pc:sldMk cId="1392043866" sldId="264"/>
            <ac:picMk id="1030" creationId="{3FB5BF35-3D0B-CC21-AF04-31CD251E013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E785-EA0A-53A1-5735-04B91E9EB8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8BBEDC4-B580-E986-9168-25AA1002F9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13C21E-F39D-DCB5-99AD-6BC5441EC916}"/>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1A1BB7DD-8791-0A60-FA64-A581F0FD1B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65E528-2B4D-F0B0-6B4A-66017B058CC5}"/>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1827620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6F5BD-A24D-D956-7725-57F728EFC1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1312AF-90F7-F4AE-DE06-7ED1ED7EBE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901C25-E877-B91F-8CB9-85B6589490FE}"/>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B1671543-81DD-40F9-241B-A009CB9876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278B32-A9E0-67A1-CC95-CD6CF74220AC}"/>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4034519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0A5C1-BE7B-CE25-B554-DF8F47566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C5BD829-2E15-E8B6-6D65-E6B97BB58C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375319-F01A-F696-76E3-6B4AB2E5A781}"/>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DB750D05-F4EB-88CF-C54D-F261BFE1AE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0A7230-F79D-08A8-0469-8E08ED085592}"/>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40724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13A73-C500-1182-44C9-E1B198BB1E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4093E4-96B7-5B27-F49F-A5E1D17C30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FAC9871-054A-D767-8A6F-8D56EB8FC9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BCAD0E-7F97-31D0-2214-F12AD6BEDBED}"/>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6" name="Footer Placeholder 5">
            <a:extLst>
              <a:ext uri="{FF2B5EF4-FFF2-40B4-BE49-F238E27FC236}">
                <a16:creationId xmlns:a16="http://schemas.microsoft.com/office/drawing/2014/main" id="{63FBAE42-6A1B-6219-E854-6D83F713C1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D4E32B-4F37-FBE1-C063-A0DA0B38B39F}"/>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310773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0B12-CF9C-9EE3-EB6A-36B5454103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A330AA-5591-8AAC-8400-63F644E5FE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51BA99-27AA-66BA-6E9A-F22E482127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5BAC2C4-B87A-5498-CFD4-E18C776F76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1C7671-AF6A-917E-1912-48A04E8787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2D4AD7E-4FC4-2B41-9D7E-B2EF866D6511}"/>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8" name="Footer Placeholder 7">
            <a:extLst>
              <a:ext uri="{FF2B5EF4-FFF2-40B4-BE49-F238E27FC236}">
                <a16:creationId xmlns:a16="http://schemas.microsoft.com/office/drawing/2014/main" id="{857F3050-2D31-19DB-0A6A-39D37C9CB1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8567C1-B318-C66B-FCF3-8D413EE7C3BC}"/>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705299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5ACB-4A94-1A8B-52DB-545F71FD81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31D179-F178-D975-263D-B794189965DE}"/>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4" name="Footer Placeholder 3">
            <a:extLst>
              <a:ext uri="{FF2B5EF4-FFF2-40B4-BE49-F238E27FC236}">
                <a16:creationId xmlns:a16="http://schemas.microsoft.com/office/drawing/2014/main" id="{D767F7B4-2DB7-93ED-512E-0050C31D47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2BE035-D56F-0938-513C-B349FDD9A747}"/>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3918609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440CA2-7FA2-2CF3-D4B1-76490202363F}"/>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3" name="Footer Placeholder 2">
            <a:extLst>
              <a:ext uri="{FF2B5EF4-FFF2-40B4-BE49-F238E27FC236}">
                <a16:creationId xmlns:a16="http://schemas.microsoft.com/office/drawing/2014/main" id="{D2D01865-6ACE-5677-224B-06D5D6BDE0B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689AED-707B-957B-7008-9EECA674BEC4}"/>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74010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43D6-43B6-FCC1-9031-4981452605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B9C446-57F4-EE5E-7DBE-5E30C25FD8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F9765E8-36DF-552B-1D85-9E26A5F55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5C326-68B8-C500-4AB4-2FB06D6F7165}"/>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6" name="Footer Placeholder 5">
            <a:extLst>
              <a:ext uri="{FF2B5EF4-FFF2-40B4-BE49-F238E27FC236}">
                <a16:creationId xmlns:a16="http://schemas.microsoft.com/office/drawing/2014/main" id="{22964432-720B-7136-F4FC-B9EEC951B0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5C7EF3-9CA1-F418-F18A-A107A02A7DFA}"/>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1761142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D7594-1BDA-0BE8-1296-0FFD3518AE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5C85BD-F8F8-C7CD-A055-2EAC8BC639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243C10-1F51-BAD6-B1CB-E732DC900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F4485C-9016-6D36-B1F6-960785FEF888}"/>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6" name="Footer Placeholder 5">
            <a:extLst>
              <a:ext uri="{FF2B5EF4-FFF2-40B4-BE49-F238E27FC236}">
                <a16:creationId xmlns:a16="http://schemas.microsoft.com/office/drawing/2014/main" id="{1E91405C-3CA1-DAFF-034B-1B96B270BD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4C4235-EA08-7297-6160-2A2D079EBCAA}"/>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3368256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3148D-45C6-B18B-D14C-76FE289CE63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BC2456-F8A2-F0FE-508D-2A7DFD54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FB9496-635B-EAA4-BE5A-F6E3ED600121}"/>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0B2FC3B2-E7F1-B8A3-5E52-4555615C7F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925BF4-1C15-30F9-B354-9A827DCF5CF0}"/>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1778470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CC2871-504C-0EFD-08AF-552377E705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6AFB7D-92BA-7F2B-3EC9-BD6E42D4A9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225946-D66B-C96B-5992-DAA7DFD3297E}"/>
              </a:ext>
            </a:extLst>
          </p:cNvPr>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05CCA7FB-EB8F-B282-E84B-62CFDD77CB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F99C7E-28FC-557B-6BB1-5DBCF52B2507}"/>
              </a:ext>
            </a:extLst>
          </p:cNvPr>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700533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ABE0E3-D7DE-4118-A295-51DB15DF5B6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842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397415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ABE0E3-D7DE-4118-A295-51DB15DF5B6D}"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0783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428098-3323-4856-8510-21B34545C14E}" type="datetimeFigureOut">
              <a:rPr lang="en-IN" smtClean="0"/>
              <a:t>06-01-2025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0321757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428098-3323-4856-8510-21B34545C14E}" type="datetimeFigureOut">
              <a:rPr lang="en-IN" smtClean="0"/>
              <a:t>06-01-2025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3986680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428098-3323-4856-8510-21B34545C14E}" type="datetimeFigureOut">
              <a:rPr lang="en-IN" smtClean="0"/>
              <a:t>06-01-2025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19925010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E428098-3323-4856-8510-21B34545C14E}" type="datetimeFigureOut">
              <a:rPr lang="en-IN" smtClean="0"/>
              <a:t>06-01-2025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969819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E428098-3323-4856-8510-21B34545C14E}" type="datetimeFigureOut">
              <a:rPr lang="en-IN" smtClean="0"/>
              <a:t>06-01-2025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DABE0E3-D7DE-4118-A295-51DB15DF5B6D}" type="slidenum">
              <a:rPr lang="en-IN" smtClean="0"/>
              <a:t>‹#›</a:t>
            </a:fld>
            <a:endParaRPr lang="en-IN"/>
          </a:p>
        </p:txBody>
      </p:sp>
    </p:spTree>
    <p:extLst>
      <p:ext uri="{BB962C8B-B14F-4D97-AF65-F5344CB8AC3E}">
        <p14:creationId xmlns:p14="http://schemas.microsoft.com/office/powerpoint/2010/main" val="28504563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428098-3323-4856-8510-21B34545C14E}" type="datetimeFigureOut">
              <a:rPr lang="en-IN" smtClean="0"/>
              <a:t>06-01-2025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17374627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38638175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428098-3323-4856-8510-21B34545C14E}"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DABE0E3-D7DE-4118-A295-51DB15DF5B6D}" type="slidenum">
              <a:rPr lang="en-IN" smtClean="0"/>
              <a:t>‹#›</a:t>
            </a:fld>
            <a:endParaRPr lang="en-IN"/>
          </a:p>
        </p:txBody>
      </p:sp>
    </p:spTree>
    <p:extLst>
      <p:ext uri="{BB962C8B-B14F-4D97-AF65-F5344CB8AC3E}">
        <p14:creationId xmlns:p14="http://schemas.microsoft.com/office/powerpoint/2010/main" val="224756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EEF320-684D-E713-ECDC-C6A232024C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C4DD8D-E0C1-01F0-918B-1BCA7609D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720D9-A90A-5C05-4D89-79D37ADF86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E428098-3323-4856-8510-21B34545C14E}" type="datetimeFigureOut">
              <a:rPr lang="en-IN" smtClean="0"/>
              <a:t>06-01-2025</a:t>
            </a:fld>
            <a:endParaRPr lang="en-IN"/>
          </a:p>
        </p:txBody>
      </p:sp>
      <p:sp>
        <p:nvSpPr>
          <p:cNvPr id="5" name="Footer Placeholder 4">
            <a:extLst>
              <a:ext uri="{FF2B5EF4-FFF2-40B4-BE49-F238E27FC236}">
                <a16:creationId xmlns:a16="http://schemas.microsoft.com/office/drawing/2014/main" id="{920B48B2-1386-5F6C-804C-B37F9BA490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FF80DF0-6E4F-D9C1-0A84-E248D62B7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BE0E3-D7DE-4118-A295-51DB15DF5B6D}" type="slidenum">
              <a:rPr lang="en-IN" smtClean="0"/>
              <a:t>‹#›</a:t>
            </a:fld>
            <a:endParaRPr lang="en-IN"/>
          </a:p>
        </p:txBody>
      </p:sp>
    </p:spTree>
    <p:extLst>
      <p:ext uri="{BB962C8B-B14F-4D97-AF65-F5344CB8AC3E}">
        <p14:creationId xmlns:p14="http://schemas.microsoft.com/office/powerpoint/2010/main" val="1101488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E428098-3323-4856-8510-21B34545C14E}" type="datetimeFigureOut">
              <a:rPr lang="en-IN" smtClean="0"/>
              <a:t>06-01-2025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DABE0E3-D7DE-4118-A295-51DB15DF5B6D}"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397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683C1EC-5386-48D6-00DC-FB407F090C8A}"/>
              </a:ext>
            </a:extLst>
          </p:cNvPr>
          <p:cNvSpPr>
            <a:spLocks noGrp="1"/>
          </p:cNvSpPr>
          <p:nvPr>
            <p:ph type="subTitle" idx="1"/>
          </p:nvPr>
        </p:nvSpPr>
        <p:spPr>
          <a:xfrm>
            <a:off x="1359408" y="712534"/>
            <a:ext cx="9144000" cy="4773866"/>
          </a:xfrm>
        </p:spPr>
        <p:txBody>
          <a:bodyPr>
            <a:normAutofit/>
          </a:bodyPr>
          <a:lstStyle/>
          <a:p>
            <a:r>
              <a:rPr lang="en-US" sz="3200" b="1" dirty="0">
                <a:latin typeface="Times New Roman" panose="02020603050405020304" pitchFamily="18" charset="0"/>
                <a:cs typeface="Times New Roman" panose="02020603050405020304" pitchFamily="18" charset="0"/>
              </a:rPr>
              <a:t>DevOps and Cloud Batch </a:t>
            </a:r>
          </a:p>
          <a:p>
            <a:endParaRPr lang="en-US" dirty="0"/>
          </a:p>
          <a:p>
            <a:r>
              <a:rPr lang="en-US" dirty="0">
                <a:latin typeface="Times New Roman" panose="02020603050405020304" pitchFamily="18" charset="0"/>
                <a:cs typeface="Times New Roman" panose="02020603050405020304" pitchFamily="18" charset="0"/>
              </a:rPr>
              <a:t>Day 04 Session(02/01/2025)</a:t>
            </a:r>
          </a:p>
          <a:p>
            <a:r>
              <a:rPr lang="en-US" dirty="0">
                <a:latin typeface="Times New Roman" panose="02020603050405020304" pitchFamily="18" charset="0"/>
                <a:cs typeface="Times New Roman" panose="02020603050405020304" pitchFamily="18" charset="0"/>
              </a:rPr>
              <a:t>     Final keyword</a:t>
            </a:r>
          </a:p>
          <a:p>
            <a:r>
              <a:rPr lang="en-US" dirty="0">
                <a:latin typeface="Times New Roman" panose="02020603050405020304" pitchFamily="18" charset="0"/>
                <a:cs typeface="Times New Roman" panose="02020603050405020304" pitchFamily="18" charset="0"/>
              </a:rPr>
              <a:t>     Encapsulation</a:t>
            </a:r>
          </a:p>
          <a:p>
            <a:r>
              <a:rPr lang="en-US" dirty="0">
                <a:latin typeface="Times New Roman" panose="02020603050405020304" pitchFamily="18" charset="0"/>
                <a:cs typeface="Times New Roman" panose="02020603050405020304" pitchFamily="18" charset="0"/>
              </a:rPr>
              <a:t>      Abstraction</a:t>
            </a: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809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B29EB-F935-3D06-69E2-44E31B9A4578}"/>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Final keyword in java</a:t>
            </a:r>
            <a:endParaRPr lang="en-IN"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257BEB-199A-AC28-6F06-5090CA5B34EE}"/>
              </a:ext>
            </a:extLst>
          </p:cNvPr>
          <p:cNvSpPr txBox="1"/>
          <p:nvPr/>
        </p:nvSpPr>
        <p:spPr>
          <a:xfrm>
            <a:off x="689895" y="1369462"/>
            <a:ext cx="10663905" cy="4596130"/>
          </a:xfrm>
          <a:prstGeom prst="rect">
            <a:avLst/>
          </a:prstGeom>
          <a:noFill/>
        </p:spPr>
        <p:txBody>
          <a:bodyPr wrap="square" rtlCol="0">
            <a:spAutoFit/>
          </a:bodyPr>
          <a:lstStyle/>
          <a:p>
            <a:pPr algn="just" rtl="0" fontAlgn="base">
              <a:spcAft>
                <a:spcPts val="750"/>
              </a:spcAft>
            </a:pPr>
            <a:r>
              <a:rPr lang="en-US" sz="2000" b="0" i="0" dirty="0">
                <a:solidFill>
                  <a:srgbClr val="273239"/>
                </a:solidFill>
                <a:effectLst/>
                <a:latin typeface="Times New Roman" panose="02020603050405020304" pitchFamily="18" charset="0"/>
                <a:cs typeface="Times New Roman" panose="02020603050405020304" pitchFamily="18" charset="0"/>
              </a:rPr>
              <a:t>The following are</a:t>
            </a:r>
            <a:r>
              <a:rPr lang="en-US" sz="2000" b="1" i="0" dirty="0">
                <a:solidFill>
                  <a:srgbClr val="273239"/>
                </a:solidFill>
                <a:effectLst/>
                <a:latin typeface="Times New Roman" panose="02020603050405020304" pitchFamily="18" charset="0"/>
                <a:cs typeface="Times New Roman" panose="02020603050405020304" pitchFamily="18" charset="0"/>
              </a:rPr>
              <a:t> different contexts</a:t>
            </a:r>
            <a:r>
              <a:rPr lang="en-US" sz="2000" b="0" i="0" dirty="0">
                <a:solidFill>
                  <a:srgbClr val="273239"/>
                </a:solidFill>
                <a:effectLst/>
                <a:latin typeface="Times New Roman" panose="02020603050405020304" pitchFamily="18" charset="0"/>
                <a:cs typeface="Times New Roman" panose="02020603050405020304" pitchFamily="18" charset="0"/>
              </a:rPr>
              <a:t> where the final is used:</a:t>
            </a:r>
          </a:p>
          <a:p>
            <a:pPr algn="l" fontAlgn="base">
              <a:spcAft>
                <a:spcPts val="1800"/>
              </a:spcAft>
              <a:buFont typeface="+mj-lt"/>
              <a:buAutoNum type="arabicPeriod"/>
            </a:pPr>
            <a:r>
              <a:rPr lang="en-US" sz="2000" b="0" i="0" dirty="0">
                <a:solidFill>
                  <a:srgbClr val="273239"/>
                </a:solidFill>
                <a:effectLst/>
                <a:latin typeface="Times New Roman" panose="02020603050405020304" pitchFamily="18" charset="0"/>
                <a:cs typeface="Times New Roman" panose="02020603050405020304" pitchFamily="18" charset="0"/>
              </a:rPr>
              <a:t>Variable</a:t>
            </a:r>
          </a:p>
          <a:p>
            <a:pPr algn="l" fontAlgn="base">
              <a:spcAft>
                <a:spcPts val="1800"/>
              </a:spcAft>
              <a:buFont typeface="+mj-lt"/>
              <a:buAutoNum type="arabicPeriod" startAt="2"/>
            </a:pPr>
            <a:r>
              <a:rPr lang="en-US" sz="2000" b="0" i="0" dirty="0">
                <a:solidFill>
                  <a:srgbClr val="273239"/>
                </a:solidFill>
                <a:effectLst/>
                <a:latin typeface="Times New Roman" panose="02020603050405020304" pitchFamily="18" charset="0"/>
                <a:cs typeface="Times New Roman" panose="02020603050405020304" pitchFamily="18" charset="0"/>
              </a:rPr>
              <a:t>Method</a:t>
            </a:r>
          </a:p>
          <a:p>
            <a:pPr algn="l" fontAlgn="base">
              <a:spcAft>
                <a:spcPts val="1800"/>
              </a:spcAft>
              <a:buFont typeface="+mj-lt"/>
              <a:buAutoNum type="arabicPeriod" startAt="3"/>
            </a:pPr>
            <a:r>
              <a:rPr lang="en-US" sz="2000" b="0" i="0" dirty="0">
                <a:solidFill>
                  <a:srgbClr val="273239"/>
                </a:solidFill>
                <a:effectLst/>
                <a:latin typeface="Times New Roman" panose="02020603050405020304" pitchFamily="18" charset="0"/>
                <a:cs typeface="Times New Roman" panose="02020603050405020304" pitchFamily="18" charset="0"/>
              </a:rPr>
              <a:t>Class</a:t>
            </a:r>
          </a:p>
          <a:p>
            <a:pPr algn="l" fontAlgn="base">
              <a:spcAft>
                <a:spcPts val="1800"/>
              </a:spcAft>
            </a:pPr>
            <a:r>
              <a:rPr lang="en-US" sz="2000" b="0" i="0" dirty="0">
                <a:solidFill>
                  <a:srgbClr val="273239"/>
                </a:solidFill>
                <a:effectLst/>
                <a:latin typeface="Times New Roman" panose="02020603050405020304" pitchFamily="18" charset="0"/>
                <a:cs typeface="Times New Roman" panose="02020603050405020304" pitchFamily="18" charset="0"/>
              </a:rPr>
              <a:t>When a variable is declared with the </a:t>
            </a:r>
            <a:r>
              <a:rPr lang="en-US" sz="2000" b="1" i="1" dirty="0">
                <a:solidFill>
                  <a:srgbClr val="273239"/>
                </a:solidFill>
                <a:effectLst/>
                <a:latin typeface="Times New Roman" panose="02020603050405020304" pitchFamily="18" charset="0"/>
                <a:cs typeface="Times New Roman" panose="02020603050405020304" pitchFamily="18" charset="0"/>
              </a:rPr>
              <a:t>final keyword</a:t>
            </a:r>
            <a:r>
              <a:rPr lang="en-US" sz="2000" b="0" i="0" dirty="0">
                <a:solidFill>
                  <a:srgbClr val="273239"/>
                </a:solidFill>
                <a:effectLst/>
                <a:latin typeface="Times New Roman" panose="02020603050405020304" pitchFamily="18" charset="0"/>
                <a:cs typeface="Times New Roman" panose="02020603050405020304" pitchFamily="18" charset="0"/>
              </a:rPr>
              <a:t>, its</a:t>
            </a:r>
            <a:r>
              <a:rPr lang="en-US" sz="2000" b="1" i="0" dirty="0">
                <a:solidFill>
                  <a:srgbClr val="273239"/>
                </a:solidFill>
                <a:effectLst/>
                <a:latin typeface="Times New Roman" panose="02020603050405020304" pitchFamily="18" charset="0"/>
                <a:cs typeface="Times New Roman" panose="02020603050405020304" pitchFamily="18" charset="0"/>
              </a:rPr>
              <a:t> value can’t be changed</a:t>
            </a:r>
            <a:r>
              <a:rPr lang="en-US" sz="2000" b="0" i="0" dirty="0">
                <a:solidFill>
                  <a:srgbClr val="273239"/>
                </a:solidFill>
                <a:effectLst/>
                <a:latin typeface="Times New Roman" panose="02020603050405020304" pitchFamily="18" charset="0"/>
                <a:cs typeface="Times New Roman" panose="02020603050405020304" pitchFamily="18" charset="0"/>
              </a:rPr>
              <a:t>, essentially, a</a:t>
            </a:r>
            <a:r>
              <a:rPr lang="en-US" sz="2000" b="1" i="0" dirty="0">
                <a:solidFill>
                  <a:srgbClr val="273239"/>
                </a:solidFill>
                <a:effectLst/>
                <a:latin typeface="Times New Roman" panose="02020603050405020304" pitchFamily="18" charset="0"/>
                <a:cs typeface="Times New Roman" panose="02020603050405020304" pitchFamily="18" charset="0"/>
              </a:rPr>
              <a:t> constant</a:t>
            </a:r>
            <a:r>
              <a:rPr lang="en-US" sz="2000" b="0" i="0" dirty="0">
                <a:solidFill>
                  <a:srgbClr val="273239"/>
                </a:solidFill>
                <a:effectLst/>
                <a:latin typeface="Times New Roman" panose="02020603050405020304" pitchFamily="18" charset="0"/>
                <a:cs typeface="Times New Roman" panose="02020603050405020304" pitchFamily="18" charset="0"/>
              </a:rPr>
              <a:t>. This also means that you </a:t>
            </a:r>
            <a:r>
              <a:rPr lang="en-US" sz="2000" b="1" i="0" dirty="0">
                <a:solidFill>
                  <a:srgbClr val="273239"/>
                </a:solidFill>
                <a:effectLst/>
                <a:latin typeface="Times New Roman" panose="02020603050405020304" pitchFamily="18" charset="0"/>
                <a:cs typeface="Times New Roman" panose="02020603050405020304" pitchFamily="18" charset="0"/>
              </a:rPr>
              <a:t>must initialize a final variable</a:t>
            </a:r>
            <a:r>
              <a:rPr lang="en-US" sz="2000" b="0" i="0" dirty="0">
                <a:solidFill>
                  <a:srgbClr val="273239"/>
                </a:solidFill>
                <a:effectLst/>
                <a:latin typeface="Times New Roman" panose="02020603050405020304" pitchFamily="18" charset="0"/>
                <a:cs typeface="Times New Roman" panose="02020603050405020304" pitchFamily="18" charset="0"/>
              </a:rPr>
              <a:t>.</a:t>
            </a:r>
          </a:p>
          <a:p>
            <a:pPr algn="l" fontAlgn="base">
              <a:spcAft>
                <a:spcPts val="1800"/>
              </a:spcAft>
            </a:pPr>
            <a:r>
              <a:rPr lang="en-US" sz="2000" dirty="0">
                <a:solidFill>
                  <a:srgbClr val="273239"/>
                </a:solidFill>
                <a:latin typeface="Times New Roman" panose="02020603050405020304" pitchFamily="18" charset="0"/>
                <a:cs typeface="Times New Roman" panose="02020603050405020304" pitchFamily="18" charset="0"/>
              </a:rPr>
              <a:t>Goto and const Keywords are not used in java, instead of const we use final keyword in java.</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spcAft>
                <a:spcPts val="1800"/>
              </a:spcAft>
            </a:pPr>
            <a:endParaRPr lang="en-US" sz="2000" b="0" i="0" dirty="0">
              <a:solidFill>
                <a:srgbClr val="273239"/>
              </a:solidFill>
              <a:effectLst/>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628992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64DFFD-D3E3-104D-26D5-B26E9DF99A67}"/>
              </a:ext>
            </a:extLst>
          </p:cNvPr>
          <p:cNvSpPr txBox="1"/>
          <p:nvPr/>
        </p:nvSpPr>
        <p:spPr>
          <a:xfrm>
            <a:off x="347472" y="354562"/>
            <a:ext cx="10954512" cy="5216813"/>
          </a:xfrm>
          <a:prstGeom prst="rect">
            <a:avLst/>
          </a:prstGeom>
          <a:noFill/>
        </p:spPr>
        <p:txBody>
          <a:bodyPr wrap="square" rtlCol="0">
            <a:spAutoFit/>
          </a:bodyPr>
          <a:lstStyle/>
          <a:p>
            <a:pPr algn="l" fontAlgn="base">
              <a:spcAft>
                <a:spcPts val="1800"/>
              </a:spcAft>
            </a:pPr>
            <a:r>
              <a:rPr lang="en-US" dirty="0">
                <a:solidFill>
                  <a:srgbClr val="273239"/>
                </a:solidFill>
                <a:latin typeface="Nunito" pitchFamily="2" charset="0"/>
              </a:rPr>
              <a:t>public class ConstantExample {</a:t>
            </a:r>
          </a:p>
          <a:p>
            <a:pPr algn="l" fontAlgn="base">
              <a:spcAft>
                <a:spcPts val="1800"/>
              </a:spcAft>
            </a:pPr>
            <a:r>
              <a:rPr lang="en-US" dirty="0">
                <a:solidFill>
                  <a:srgbClr val="273239"/>
                </a:solidFill>
                <a:latin typeface="Nunito" pitchFamily="2" charset="0"/>
              </a:rPr>
              <a:t>    ConstantExample</a:t>
            </a:r>
            <a:r>
              <a:rPr lang="en-US">
                <a:solidFill>
                  <a:srgbClr val="273239"/>
                </a:solidFill>
                <a:latin typeface="Nunito" pitchFamily="2" charset="0"/>
              </a:rPr>
              <a:t>(double pi){</a:t>
            </a:r>
          </a:p>
          <a:p>
            <a:pPr algn="l" fontAlgn="base">
              <a:spcAft>
                <a:spcPts val="1800"/>
              </a:spcAft>
            </a:pPr>
            <a:endParaRPr lang="en-US" dirty="0">
              <a:solidFill>
                <a:srgbClr val="273239"/>
              </a:solidFill>
              <a:latin typeface="Nunito" pitchFamily="2" charset="0"/>
            </a:endParaRPr>
          </a:p>
          <a:p>
            <a:pPr algn="l" fontAlgn="base">
              <a:spcAft>
                <a:spcPts val="1800"/>
              </a:spcAft>
            </a:pPr>
            <a:r>
              <a:rPr lang="en-US" dirty="0">
                <a:solidFill>
                  <a:srgbClr val="273239"/>
                </a:solidFill>
                <a:latin typeface="Nunito" pitchFamily="2" charset="0"/>
              </a:rPr>
              <a:t>    public static void main(String[] </a:t>
            </a:r>
            <a:r>
              <a:rPr lang="en-US" dirty="0" err="1">
                <a:solidFill>
                  <a:srgbClr val="273239"/>
                </a:solidFill>
                <a:latin typeface="Nunito" pitchFamily="2" charset="0"/>
              </a:rPr>
              <a:t>args</a:t>
            </a:r>
            <a:r>
              <a:rPr lang="en-US" dirty="0">
                <a:solidFill>
                  <a:srgbClr val="273239"/>
                </a:solidFill>
                <a:latin typeface="Nunito" pitchFamily="2" charset="0"/>
              </a:rPr>
              <a:t>) {</a:t>
            </a:r>
          </a:p>
          <a:p>
            <a:pPr algn="l" fontAlgn="base">
              <a:spcAft>
                <a:spcPts val="1800"/>
              </a:spcAft>
            </a:pPr>
            <a:r>
              <a:rPr lang="en-US" dirty="0">
                <a:solidFill>
                  <a:srgbClr val="273239"/>
                </a:solidFill>
                <a:latin typeface="Nunito" pitchFamily="2" charset="0"/>
              </a:rPr>
              <a:t>      final double PI = 3.14159;</a:t>
            </a:r>
          </a:p>
          <a:p>
            <a:pPr algn="l" fontAlgn="base">
              <a:spcAft>
                <a:spcPts val="1800"/>
              </a:spcAft>
            </a:pPr>
            <a:r>
              <a:rPr lang="en-US" dirty="0">
                <a:solidFill>
                  <a:srgbClr val="273239"/>
                </a:solidFill>
                <a:latin typeface="Nunito" pitchFamily="2" charset="0"/>
              </a:rPr>
              <a:t>     System.out.println("Value of PI: " + PI);</a:t>
            </a:r>
          </a:p>
          <a:p>
            <a:pPr algn="l" fontAlgn="base">
              <a:spcAft>
                <a:spcPts val="1800"/>
              </a:spcAft>
            </a:pPr>
            <a:r>
              <a:rPr lang="en-US" dirty="0">
                <a:solidFill>
                  <a:srgbClr val="273239"/>
                </a:solidFill>
                <a:latin typeface="Nunito" pitchFamily="2" charset="0"/>
              </a:rPr>
              <a:t>    }</a:t>
            </a:r>
          </a:p>
          <a:p>
            <a:pPr algn="l" fontAlgn="base">
              <a:spcAft>
                <a:spcPts val="1800"/>
              </a:spcAft>
            </a:pPr>
            <a:r>
              <a:rPr lang="en-US" dirty="0">
                <a:solidFill>
                  <a:srgbClr val="273239"/>
                </a:solidFill>
                <a:latin typeface="Nunito" pitchFamily="2" charset="0"/>
              </a:rPr>
              <a:t>}</a:t>
            </a:r>
          </a:p>
          <a:p>
            <a:pPr algn="l" fontAlgn="base">
              <a:spcAft>
                <a:spcPts val="1800"/>
              </a:spcAft>
            </a:pPr>
            <a:r>
              <a:rPr lang="en-US" dirty="0">
                <a:solidFill>
                  <a:srgbClr val="273239"/>
                </a:solidFill>
                <a:latin typeface="Nunito" pitchFamily="2" charset="0"/>
              </a:rPr>
              <a:t>final attributes can be initialized when declared or with the help of constructors(default as well as parameterized)., these are the only to ways with which we can use to initialize final variables.</a:t>
            </a:r>
          </a:p>
          <a:p>
            <a:endParaRPr lang="en-IN" dirty="0"/>
          </a:p>
        </p:txBody>
      </p:sp>
    </p:spTree>
    <p:extLst>
      <p:ext uri="{BB962C8B-B14F-4D97-AF65-F5344CB8AC3E}">
        <p14:creationId xmlns:p14="http://schemas.microsoft.com/office/powerpoint/2010/main" val="2873744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36A2D-7F9D-0375-AC0B-597526E86A0F}"/>
              </a:ext>
            </a:extLst>
          </p:cNvPr>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Pillars of OOPs:</a:t>
            </a:r>
            <a:br>
              <a:rPr lang="en-US" dirty="0"/>
            </a:br>
            <a:endParaRPr lang="en-IN" dirty="0"/>
          </a:p>
        </p:txBody>
      </p:sp>
      <p:sp>
        <p:nvSpPr>
          <p:cNvPr id="3" name="TextBox 2">
            <a:extLst>
              <a:ext uri="{FF2B5EF4-FFF2-40B4-BE49-F238E27FC236}">
                <a16:creationId xmlns:a16="http://schemas.microsoft.com/office/drawing/2014/main" id="{3F6F5064-D805-0215-4D4C-3D07032D2A02}"/>
              </a:ext>
            </a:extLst>
          </p:cNvPr>
          <p:cNvSpPr txBox="1"/>
          <p:nvPr/>
        </p:nvSpPr>
        <p:spPr>
          <a:xfrm>
            <a:off x="1024128" y="1192447"/>
            <a:ext cx="9661017" cy="4503797"/>
          </a:xfrm>
          <a:prstGeom prst="rect">
            <a:avLst/>
          </a:prstGeom>
          <a:noFill/>
        </p:spPr>
        <p:txBody>
          <a:bodyPr wrap="square" rtlCol="0">
            <a:spAutoFit/>
          </a:bodyPr>
          <a:lstStyle/>
          <a:p>
            <a:pPr marL="342900" indent="-342900">
              <a:buAutoNum type="arabicPeriod"/>
            </a:pPr>
            <a:r>
              <a:rPr lang="en-US" sz="2400" b="1" dirty="0">
                <a:latin typeface="Times New Roman" panose="02020603050405020304" pitchFamily="18" charset="0"/>
                <a:cs typeface="Times New Roman" panose="02020603050405020304" pitchFamily="18" charset="0"/>
              </a:rPr>
              <a:t>Encapsulation :</a:t>
            </a:r>
          </a:p>
          <a:p>
            <a:pPr marL="285750" indent="-285750">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Encapsulation is a way of hiding the implementation details of a class from outside access and only exposing a public interface that can be used to interact with the class.</a:t>
            </a:r>
          </a:p>
          <a:p>
            <a:pPr marL="285750" indent="-285750" algn="just" rtl="0" fontAlgn="base">
              <a:spcAft>
                <a:spcPts val="750"/>
              </a:spcAft>
              <a:buFont typeface="Arial" panose="020B0604020202020204" pitchFamily="34" charset="0"/>
              <a:buChar char="•"/>
            </a:pPr>
            <a:endParaRPr lang="en-US" sz="2000" b="0" i="0" dirty="0">
              <a:solidFill>
                <a:srgbClr val="273239"/>
              </a:solidFill>
              <a:effectLst/>
              <a:latin typeface="Times New Roman" panose="02020603050405020304" pitchFamily="18" charset="0"/>
              <a:cs typeface="Times New Roman" panose="02020603050405020304" pitchFamily="18" charset="0"/>
            </a:endParaRPr>
          </a:p>
          <a:p>
            <a:pPr marL="285750" indent="-285750" algn="just" rtl="0" fontAlgn="base">
              <a:spcAft>
                <a:spcPts val="75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In Java, encapsulation is achieved by declaring the instance variables of a class as private, which means they can only be accessed within the class. </a:t>
            </a:r>
          </a:p>
          <a:p>
            <a:pPr marL="285750" indent="-285750" algn="just" rtl="0" fontAlgn="base">
              <a:spcAft>
                <a:spcPts val="75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To allow outside access to the instance variables, public methods called getters and setters are defined, which are used to retrieve and modify the values of the instance variables, respectively. </a:t>
            </a:r>
          </a:p>
          <a:p>
            <a:pPr marL="285750" indent="-285750" algn="just" rtl="0" fontAlgn="base">
              <a:spcAft>
                <a:spcPts val="750"/>
              </a:spcAft>
              <a:buFont typeface="Arial" panose="020B0604020202020204" pitchFamily="34" charset="0"/>
              <a:buChar char="•"/>
            </a:pPr>
            <a:r>
              <a:rPr lang="en-US" sz="2000" b="0" i="0" dirty="0">
                <a:solidFill>
                  <a:srgbClr val="273239"/>
                </a:solidFill>
                <a:effectLst/>
                <a:latin typeface="Times New Roman" panose="02020603050405020304" pitchFamily="18" charset="0"/>
                <a:cs typeface="Times New Roman" panose="02020603050405020304" pitchFamily="18" charset="0"/>
              </a:rPr>
              <a:t>By using getters and setters, the class can enforce its own data validation rules and ensure that its internal state remains consistent.</a:t>
            </a:r>
          </a:p>
          <a:p>
            <a:br>
              <a:rPr lang="en-US" dirty="0"/>
            </a:br>
            <a:endParaRPr lang="en-IN" dirty="0"/>
          </a:p>
        </p:txBody>
      </p:sp>
    </p:spTree>
    <p:extLst>
      <p:ext uri="{BB962C8B-B14F-4D97-AF65-F5344CB8AC3E}">
        <p14:creationId xmlns:p14="http://schemas.microsoft.com/office/powerpoint/2010/main" val="2411383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C1698E-BDA4-3EEC-C79E-B31C06AAFDCC}"/>
              </a:ext>
            </a:extLst>
          </p:cNvPr>
          <p:cNvSpPr txBox="1"/>
          <p:nvPr/>
        </p:nvSpPr>
        <p:spPr>
          <a:xfrm>
            <a:off x="1060704" y="91440"/>
            <a:ext cx="10680192" cy="6463308"/>
          </a:xfrm>
          <a:prstGeom prst="rect">
            <a:avLst/>
          </a:prstGeom>
          <a:noFill/>
        </p:spPr>
        <p:txBody>
          <a:bodyPr wrap="square" rtlCol="0">
            <a:spAutoFit/>
          </a:bodyPr>
          <a:lstStyle/>
          <a:p>
            <a:r>
              <a:rPr lang="en-IN" dirty="0"/>
              <a:t>Example of encapsulation</a:t>
            </a:r>
          </a:p>
          <a:p>
            <a:r>
              <a:rPr lang="en-IN" dirty="0"/>
              <a:t>class Person {</a:t>
            </a:r>
          </a:p>
          <a:p>
            <a:r>
              <a:rPr lang="en-IN" dirty="0"/>
              <a:t>    private String name;</a:t>
            </a:r>
          </a:p>
          <a:p>
            <a:r>
              <a:rPr lang="en-IN" dirty="0"/>
              <a:t>    private int age;</a:t>
            </a:r>
          </a:p>
          <a:p>
            <a:endParaRPr lang="en-IN" dirty="0"/>
          </a:p>
          <a:p>
            <a:r>
              <a:rPr lang="en-IN" dirty="0"/>
              <a:t>    public String </a:t>
            </a:r>
            <a:r>
              <a:rPr lang="en-IN" dirty="0" err="1"/>
              <a:t>getName</a:t>
            </a:r>
            <a:r>
              <a:rPr lang="en-IN" dirty="0"/>
              <a:t>() { return name; }</a:t>
            </a:r>
          </a:p>
          <a:p>
            <a:endParaRPr lang="en-IN" dirty="0"/>
          </a:p>
          <a:p>
            <a:r>
              <a:rPr lang="en-IN" dirty="0"/>
              <a:t>    public void </a:t>
            </a:r>
            <a:r>
              <a:rPr lang="en-IN" dirty="0" err="1"/>
              <a:t>setName</a:t>
            </a:r>
            <a:r>
              <a:rPr lang="en-IN" dirty="0"/>
              <a:t>(String name) { this.name = name; }</a:t>
            </a:r>
          </a:p>
          <a:p>
            <a:endParaRPr lang="en-IN" dirty="0"/>
          </a:p>
          <a:p>
            <a:r>
              <a:rPr lang="en-IN" dirty="0"/>
              <a:t>    public int </a:t>
            </a:r>
            <a:r>
              <a:rPr lang="en-IN" dirty="0" err="1"/>
              <a:t>getAge</a:t>
            </a:r>
            <a:r>
              <a:rPr lang="en-IN" dirty="0"/>
              <a:t>() { return age; }</a:t>
            </a:r>
          </a:p>
          <a:p>
            <a:endParaRPr lang="en-IN" dirty="0"/>
          </a:p>
          <a:p>
            <a:r>
              <a:rPr lang="en-IN" dirty="0"/>
              <a:t>    public void </a:t>
            </a:r>
            <a:r>
              <a:rPr lang="en-IN" dirty="0" err="1"/>
              <a:t>setAge</a:t>
            </a:r>
            <a:r>
              <a:rPr lang="en-IN" dirty="0"/>
              <a:t>(int age) { </a:t>
            </a:r>
            <a:r>
              <a:rPr lang="en-IN" dirty="0" err="1"/>
              <a:t>this.age</a:t>
            </a:r>
            <a:r>
              <a:rPr lang="en-IN" dirty="0"/>
              <a:t> = age; }</a:t>
            </a:r>
          </a:p>
          <a:p>
            <a:r>
              <a:rPr lang="en-IN" dirty="0"/>
              <a:t>}</a:t>
            </a:r>
          </a:p>
          <a:p>
            <a:r>
              <a:rPr lang="en-IN" dirty="0"/>
              <a:t>public class Main {</a:t>
            </a:r>
          </a:p>
          <a:p>
            <a:r>
              <a:rPr lang="en-IN" dirty="0"/>
              <a:t>  public static void main(String[] </a:t>
            </a:r>
            <a:r>
              <a:rPr lang="en-IN" dirty="0" err="1"/>
              <a:t>args</a:t>
            </a:r>
            <a:r>
              <a:rPr lang="en-IN" dirty="0"/>
              <a:t>)</a:t>
            </a:r>
          </a:p>
          <a:p>
            <a:r>
              <a:rPr lang="en-IN" dirty="0"/>
              <a:t>    {</a:t>
            </a:r>
          </a:p>
          <a:p>
            <a:r>
              <a:rPr lang="en-IN" dirty="0"/>
              <a:t>        Person </a:t>
            </a:r>
            <a:r>
              <a:rPr lang="en-IN" dirty="0" err="1"/>
              <a:t>person</a:t>
            </a:r>
            <a:r>
              <a:rPr lang="en-IN" dirty="0"/>
              <a:t> = new Person();</a:t>
            </a:r>
          </a:p>
          <a:p>
            <a:r>
              <a:rPr lang="en-IN" dirty="0"/>
              <a:t>        </a:t>
            </a:r>
            <a:r>
              <a:rPr lang="en-IN" dirty="0" err="1"/>
              <a:t>person.setName</a:t>
            </a:r>
            <a:r>
              <a:rPr lang="en-IN" dirty="0"/>
              <a:t>("John");</a:t>
            </a:r>
          </a:p>
          <a:p>
            <a:r>
              <a:rPr lang="en-IN" dirty="0"/>
              <a:t>        </a:t>
            </a:r>
            <a:r>
              <a:rPr lang="en-IN" dirty="0" err="1"/>
              <a:t>person.setAge</a:t>
            </a:r>
            <a:r>
              <a:rPr lang="en-IN" dirty="0"/>
              <a:t>(30);</a:t>
            </a:r>
          </a:p>
          <a:p>
            <a:r>
              <a:rPr lang="en-IN" dirty="0"/>
              <a:t>        </a:t>
            </a:r>
            <a:r>
              <a:rPr lang="en-IN" dirty="0" err="1"/>
              <a:t>System.out.println</a:t>
            </a:r>
            <a:r>
              <a:rPr lang="en-IN" dirty="0"/>
              <a:t>("Name: " + </a:t>
            </a:r>
            <a:r>
              <a:rPr lang="en-IN" dirty="0" err="1"/>
              <a:t>person.getName</a:t>
            </a:r>
            <a:r>
              <a:rPr lang="en-IN" dirty="0"/>
              <a:t>());</a:t>
            </a:r>
          </a:p>
          <a:p>
            <a:r>
              <a:rPr lang="en-IN" dirty="0"/>
              <a:t>        </a:t>
            </a:r>
            <a:r>
              <a:rPr lang="en-IN" dirty="0" err="1"/>
              <a:t>System.out.println</a:t>
            </a:r>
            <a:r>
              <a:rPr lang="en-IN" dirty="0"/>
              <a:t>("Age: " + </a:t>
            </a:r>
            <a:r>
              <a:rPr lang="en-IN" dirty="0" err="1"/>
              <a:t>person.getAge</a:t>
            </a:r>
            <a:r>
              <a:rPr lang="en-IN" dirty="0"/>
              <a:t>());</a:t>
            </a:r>
          </a:p>
          <a:p>
            <a:r>
              <a:rPr lang="en-IN" dirty="0"/>
              <a:t>    }</a:t>
            </a:r>
          </a:p>
          <a:p>
            <a:r>
              <a:rPr lang="en-IN" dirty="0"/>
              <a:t>}</a:t>
            </a:r>
          </a:p>
        </p:txBody>
      </p:sp>
    </p:spTree>
    <p:extLst>
      <p:ext uri="{BB962C8B-B14F-4D97-AF65-F5344CB8AC3E}">
        <p14:creationId xmlns:p14="http://schemas.microsoft.com/office/powerpoint/2010/main" val="368891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0487D5-F89F-312C-C5F1-FDD06CB017DA}"/>
              </a:ext>
            </a:extLst>
          </p:cNvPr>
          <p:cNvSpPr txBox="1"/>
          <p:nvPr/>
        </p:nvSpPr>
        <p:spPr>
          <a:xfrm>
            <a:off x="475488" y="320040"/>
            <a:ext cx="9798708" cy="5781070"/>
          </a:xfrm>
          <a:prstGeom prst="rect">
            <a:avLst/>
          </a:prstGeom>
          <a:noFill/>
        </p:spPr>
        <p:txBody>
          <a:bodyPr wrap="none" rtlCol="0">
            <a:spAutoFit/>
          </a:bodyPr>
          <a:lstStyle/>
          <a:p>
            <a:r>
              <a:rPr lang="en-US" dirty="0"/>
              <a:t>Abstraction </a:t>
            </a:r>
          </a:p>
          <a:p>
            <a:r>
              <a:rPr lang="en-US" dirty="0"/>
              <a:t>Hiding the unnecessary details and displaying only the necessary details is known as abstraction.</a:t>
            </a:r>
          </a:p>
          <a:p>
            <a:endParaRPr lang="en-US" dirty="0"/>
          </a:p>
          <a:p>
            <a:r>
              <a:rPr lang="en-US" dirty="0"/>
              <a:t>Through encapsulation we can achieve abstraction.</a:t>
            </a:r>
          </a:p>
          <a:p>
            <a:endParaRPr lang="en-US" dirty="0"/>
          </a:p>
          <a:p>
            <a:r>
              <a:rPr lang="en-US" dirty="0" err="1"/>
              <a:t>Inheritence</a:t>
            </a:r>
            <a:r>
              <a:rPr lang="en-US" dirty="0"/>
              <a:t>: For code reusability and to avoid duplication.</a:t>
            </a:r>
          </a:p>
          <a:p>
            <a:r>
              <a:rPr lang="en-US" dirty="0"/>
              <a:t>Types of </a:t>
            </a:r>
            <a:r>
              <a:rPr lang="en-US" dirty="0" err="1"/>
              <a:t>Inheritence</a:t>
            </a:r>
            <a:endParaRPr lang="en-US" dirty="0"/>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Java Inheritance Types</a:t>
            </a:r>
          </a:p>
          <a:p>
            <a:pPr algn="just" rtl="0" fontAlgn="base">
              <a:spcAft>
                <a:spcPts val="750"/>
              </a:spcAft>
            </a:pPr>
            <a:r>
              <a:rPr lang="en-US" b="0" i="0" dirty="0">
                <a:solidFill>
                  <a:srgbClr val="273239"/>
                </a:solidFill>
                <a:effectLst/>
                <a:latin typeface="Nunito" pitchFamily="2" charset="0"/>
              </a:rPr>
              <a:t>Below are the different types of inheritance which are supported by Java.</a:t>
            </a:r>
          </a:p>
          <a:p>
            <a:pPr algn="l" fontAlgn="base">
              <a:spcAft>
                <a:spcPts val="1800"/>
              </a:spcAft>
              <a:buFont typeface="+mj-lt"/>
              <a:buAutoNum type="arabicPeriod"/>
            </a:pPr>
            <a:r>
              <a:rPr lang="en-US" b="0" i="0" dirty="0">
                <a:solidFill>
                  <a:srgbClr val="273239"/>
                </a:solidFill>
                <a:effectLst/>
                <a:latin typeface="Nunito" pitchFamily="2" charset="0"/>
              </a:rPr>
              <a:t>Single Inheritance</a:t>
            </a:r>
          </a:p>
          <a:p>
            <a:pPr algn="l" fontAlgn="base">
              <a:spcAft>
                <a:spcPts val="1800"/>
              </a:spcAft>
              <a:buFont typeface="+mj-lt"/>
              <a:buAutoNum type="arabicPeriod" startAt="2"/>
            </a:pPr>
            <a:r>
              <a:rPr lang="en-US" b="0" i="0" dirty="0">
                <a:solidFill>
                  <a:srgbClr val="273239"/>
                </a:solidFill>
                <a:effectLst/>
                <a:latin typeface="Nunito" pitchFamily="2" charset="0"/>
              </a:rPr>
              <a:t>Multilevel Inheritance</a:t>
            </a:r>
          </a:p>
          <a:p>
            <a:pPr algn="l" fontAlgn="base">
              <a:spcAft>
                <a:spcPts val="1800"/>
              </a:spcAft>
              <a:buFont typeface="+mj-lt"/>
              <a:buAutoNum type="arabicPeriod" startAt="3"/>
            </a:pPr>
            <a:r>
              <a:rPr lang="en-US" b="0" i="0" dirty="0">
                <a:solidFill>
                  <a:srgbClr val="273239"/>
                </a:solidFill>
                <a:effectLst/>
                <a:latin typeface="Nunito" pitchFamily="2" charset="0"/>
              </a:rPr>
              <a:t>Hierarchical Inheritance</a:t>
            </a:r>
          </a:p>
          <a:p>
            <a:pPr algn="l" fontAlgn="base">
              <a:spcAft>
                <a:spcPts val="1800"/>
              </a:spcAft>
              <a:buFont typeface="+mj-lt"/>
              <a:buAutoNum type="arabicPeriod" startAt="4"/>
            </a:pPr>
            <a:r>
              <a:rPr lang="en-US" b="0" i="0" dirty="0">
                <a:solidFill>
                  <a:srgbClr val="273239"/>
                </a:solidFill>
                <a:effectLst/>
                <a:latin typeface="Nunito" pitchFamily="2" charset="0"/>
              </a:rPr>
              <a:t>Multiple Inheritance</a:t>
            </a:r>
          </a:p>
          <a:p>
            <a:pPr algn="l" fontAlgn="base">
              <a:spcAft>
                <a:spcPts val="1800"/>
              </a:spcAft>
              <a:buFont typeface="+mj-lt"/>
              <a:buAutoNum type="arabicPeriod" startAt="5"/>
            </a:pPr>
            <a:r>
              <a:rPr lang="en-US" b="0" i="0" dirty="0">
                <a:solidFill>
                  <a:srgbClr val="273239"/>
                </a:solidFill>
                <a:effectLst/>
                <a:latin typeface="Nunito" pitchFamily="2" charset="0"/>
              </a:rPr>
              <a:t>Hybrid Inheritance</a:t>
            </a:r>
          </a:p>
          <a:p>
            <a:endParaRPr lang="en-IN" dirty="0"/>
          </a:p>
        </p:txBody>
      </p:sp>
    </p:spTree>
    <p:extLst>
      <p:ext uri="{BB962C8B-B14F-4D97-AF65-F5344CB8AC3E}">
        <p14:creationId xmlns:p14="http://schemas.microsoft.com/office/powerpoint/2010/main" val="61351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nheritance in Object Oriented Programming (Java)">
            <a:extLst>
              <a:ext uri="{FF2B5EF4-FFF2-40B4-BE49-F238E27FC236}">
                <a16:creationId xmlns:a16="http://schemas.microsoft.com/office/drawing/2014/main" id="{EB9A96C3-9661-CA31-95C5-9A90469FB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533400"/>
            <a:ext cx="10287000"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606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6C4AF0-1C3C-93EA-5EE0-B3FDBB937215}"/>
              </a:ext>
            </a:extLst>
          </p:cNvPr>
          <p:cNvSpPr txBox="1"/>
          <p:nvPr/>
        </p:nvSpPr>
        <p:spPr>
          <a:xfrm>
            <a:off x="795528" y="310896"/>
            <a:ext cx="10963656" cy="5632311"/>
          </a:xfrm>
          <a:prstGeom prst="rect">
            <a:avLst/>
          </a:prstGeom>
          <a:noFill/>
        </p:spPr>
        <p:txBody>
          <a:bodyPr wrap="square" rtlCol="0">
            <a:spAutoFit/>
          </a:bodyPr>
          <a:lstStyle/>
          <a:p>
            <a:r>
              <a:rPr lang="en-US" dirty="0"/>
              <a:t>Types of Relationships :</a:t>
            </a:r>
          </a:p>
          <a:p>
            <a:pPr marL="342900" indent="-342900">
              <a:buAutoNum type="arabicParenR"/>
            </a:pPr>
            <a:r>
              <a:rPr lang="en-US" dirty="0"/>
              <a:t>Composition(has-a relationship): Relationship between a class and an object.</a:t>
            </a:r>
          </a:p>
          <a:p>
            <a:pPr marL="342900" indent="-342900">
              <a:buAutoNum type="arabicParenR"/>
            </a:pPr>
            <a:r>
              <a:rPr lang="en-US" dirty="0"/>
              <a:t>Generalization: Classes and object that has a common state and behavior.</a:t>
            </a:r>
          </a:p>
          <a:p>
            <a:pPr marL="342900" indent="-342900">
              <a:buAutoNum type="arabicParenR"/>
            </a:pPr>
            <a:r>
              <a:rPr lang="en-US" dirty="0"/>
              <a:t>Utilization</a:t>
            </a:r>
            <a:r>
              <a:rPr lang="en-US" dirty="0">
                <a:sym typeface="Wingdings" panose="05000000000000000000" pitchFamily="2" charset="2"/>
              </a:rPr>
              <a:t>(is-a relationship):One object makes use of other object or  classes uses another class.</a:t>
            </a:r>
            <a:endParaRPr lang="en-US" dirty="0"/>
          </a:p>
          <a:p>
            <a:pPr marL="342900" indent="-342900">
              <a:buAutoNum type="arabicParenR"/>
            </a:pPr>
            <a:r>
              <a:rPr lang="en-US" dirty="0"/>
              <a:t>Instantiation: It defines that an object cannot exists without a class.</a:t>
            </a:r>
          </a:p>
          <a:p>
            <a:pPr marL="342900" indent="-342900">
              <a:buAutoNum type="arabicParenR"/>
            </a:pPr>
            <a:endParaRPr lang="en-US" dirty="0"/>
          </a:p>
          <a:p>
            <a:r>
              <a:rPr lang="en-US" dirty="0"/>
              <a:t>Extends establishes a relationship between two classes.</a:t>
            </a:r>
          </a:p>
          <a:p>
            <a:r>
              <a:rPr lang="en-US" dirty="0"/>
              <a:t>Syntax: &lt;child class name&gt; extends &lt;Parent class name&gt;{</a:t>
            </a:r>
          </a:p>
          <a:p>
            <a:r>
              <a:rPr lang="en-US" dirty="0"/>
              <a:t>}</a:t>
            </a:r>
          </a:p>
          <a:p>
            <a:endParaRPr lang="en-US" dirty="0"/>
          </a:p>
          <a:p>
            <a:r>
              <a:rPr lang="en-US" dirty="0"/>
              <a:t>Parent class can’t access child class properties.</a:t>
            </a:r>
          </a:p>
          <a:p>
            <a:r>
              <a:rPr lang="en-US" dirty="0"/>
              <a:t>Parent obj = new Child() – this is dynamic/run time polymorphism , but the vice versa is not possible.</a:t>
            </a:r>
          </a:p>
          <a:p>
            <a:r>
              <a:rPr lang="en-US" dirty="0"/>
              <a:t>Parent p: where ’p’ is just a reference variable not an object.</a:t>
            </a:r>
          </a:p>
          <a:p>
            <a:endParaRPr lang="en-US" dirty="0"/>
          </a:p>
          <a:p>
            <a:r>
              <a:rPr lang="en-US" dirty="0"/>
              <a:t>Multiple inheritance is not supported by java because it created ambiguity problems. It is also called a diamond problem.</a:t>
            </a:r>
          </a:p>
          <a:p>
            <a:endParaRPr lang="en-US" dirty="0"/>
          </a:p>
          <a:p>
            <a:endParaRPr lang="en-US" dirty="0"/>
          </a:p>
          <a:p>
            <a:pPr marL="342900" indent="-342900">
              <a:buAutoNum type="arabicParenR"/>
            </a:pPr>
            <a:endParaRPr lang="en-US" dirty="0"/>
          </a:p>
          <a:p>
            <a:endParaRPr lang="en-IN" dirty="0"/>
          </a:p>
        </p:txBody>
      </p:sp>
    </p:spTree>
    <p:extLst>
      <p:ext uri="{BB962C8B-B14F-4D97-AF65-F5344CB8AC3E}">
        <p14:creationId xmlns:p14="http://schemas.microsoft.com/office/powerpoint/2010/main" val="2932027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CDD20C-E5EC-EB37-7AD9-46C655B1D70D}"/>
              </a:ext>
            </a:extLst>
          </p:cNvPr>
          <p:cNvSpPr txBox="1"/>
          <p:nvPr/>
        </p:nvSpPr>
        <p:spPr>
          <a:xfrm>
            <a:off x="500395" y="168513"/>
            <a:ext cx="5595605" cy="843307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Polymorphism: Where poly means ‘many’ and morphism is ‘forms.’</a:t>
            </a:r>
          </a:p>
          <a:p>
            <a:endParaRPr lang="en-US" sz="2000" dirty="0">
              <a:latin typeface="Times New Roman" panose="02020603050405020304" pitchFamily="18" charset="0"/>
              <a:cs typeface="Times New Roman" panose="02020603050405020304" pitchFamily="18" charset="0"/>
            </a:endParaRPr>
          </a:p>
          <a:p>
            <a:r>
              <a:rPr lang="en-US" sz="2000" b="0" i="0" dirty="0">
                <a:solidFill>
                  <a:srgbClr val="273239"/>
                </a:solidFill>
                <a:effectLst/>
                <a:latin typeface="Times New Roman" panose="02020603050405020304" pitchFamily="18" charset="0"/>
                <a:cs typeface="Times New Roman" panose="02020603050405020304" pitchFamily="18" charset="0"/>
              </a:rPr>
              <a:t>Method Overloading: </a:t>
            </a:r>
            <a:r>
              <a:rPr lang="en-US" sz="2000" dirty="0">
                <a:solidFill>
                  <a:srgbClr val="273239"/>
                </a:solidFill>
                <a:latin typeface="Times New Roman" panose="02020603050405020304" pitchFamily="18" charset="0"/>
                <a:cs typeface="Times New Roman" panose="02020603050405020304" pitchFamily="18" charset="0"/>
              </a:rPr>
              <a:t>It is an example for static polymorphism. </a:t>
            </a:r>
            <a:r>
              <a:rPr lang="en-US" sz="2000" b="0" i="0" dirty="0">
                <a:solidFill>
                  <a:srgbClr val="273239"/>
                </a:solidFill>
                <a:effectLst/>
                <a:latin typeface="Times New Roman" panose="02020603050405020304" pitchFamily="18" charset="0"/>
                <a:cs typeface="Times New Roman" panose="02020603050405020304" pitchFamily="18" charset="0"/>
              </a:rPr>
              <a:t>In Java means when there are multiple functions with the same name but different parameters then these functions are said to be </a:t>
            </a:r>
            <a:r>
              <a:rPr lang="en-US" sz="2000" i="0" dirty="0">
                <a:solidFill>
                  <a:srgbClr val="273239"/>
                </a:solidFill>
                <a:effectLst/>
                <a:latin typeface="Times New Roman" panose="02020603050405020304" pitchFamily="18" charset="0"/>
                <a:cs typeface="Times New Roman" panose="02020603050405020304" pitchFamily="18" charset="0"/>
              </a:rPr>
              <a:t>overloaded.</a:t>
            </a:r>
            <a:r>
              <a:rPr lang="en-US" sz="2000" b="0" i="0" dirty="0">
                <a:solidFill>
                  <a:srgbClr val="273239"/>
                </a:solidFill>
                <a:effectLst/>
                <a:latin typeface="Times New Roman" panose="02020603050405020304" pitchFamily="18" charset="0"/>
                <a:cs typeface="Times New Roman" panose="02020603050405020304" pitchFamily="18" charset="0"/>
              </a:rPr>
              <a:t> Functions can be overloaded by changes in the number of arguments or/and a change in the type of arguments or type of arguments.</a:t>
            </a:r>
          </a:p>
          <a:p>
            <a:endParaRPr lang="en-US" sz="2000" dirty="0">
              <a:solidFill>
                <a:srgbClr val="273239"/>
              </a:solidFill>
              <a:latin typeface="Times New Roman" panose="02020603050405020304" pitchFamily="18" charset="0"/>
              <a:cs typeface="Times New Roman" panose="02020603050405020304" pitchFamily="18" charset="0"/>
            </a:endParaRPr>
          </a:p>
          <a:p>
            <a:r>
              <a:rPr lang="en-US" sz="2000" b="0" i="0" dirty="0">
                <a:solidFill>
                  <a:srgbClr val="273239"/>
                </a:solidFill>
                <a:effectLst/>
                <a:latin typeface="Times New Roman" panose="02020603050405020304" pitchFamily="18" charset="0"/>
                <a:cs typeface="Times New Roman" panose="02020603050405020304" pitchFamily="18" charset="0"/>
              </a:rPr>
              <a:t>Method Overriding: In Java known as Dynamic Method Dispatch. It is a process in which a function call to the overridden method is resolved at Runtime. This type of polymorphism is achieved by Method Overriding. Method overriding on the other hand, occurs when a derived class has a definition for one of the member functions of the base class. That base function is said to be overridden.</a:t>
            </a:r>
          </a:p>
          <a:p>
            <a:endParaRPr lang="en-US" dirty="0">
              <a:solidFill>
                <a:srgbClr val="273239"/>
              </a:solidFill>
              <a:latin typeface="Nunito" pitchFamily="2" charset="0"/>
            </a:endParaRPr>
          </a:p>
          <a:p>
            <a:endParaRPr lang="en-US" dirty="0"/>
          </a:p>
          <a:p>
            <a:endParaRPr lang="en-US" dirty="0"/>
          </a:p>
          <a:p>
            <a:endParaRPr lang="en-US" dirty="0"/>
          </a:p>
          <a:p>
            <a:endParaRPr lang="en-IN" dirty="0"/>
          </a:p>
          <a:p>
            <a:endParaRPr lang="en-IN" dirty="0"/>
          </a:p>
          <a:p>
            <a:endParaRPr lang="en-IN" dirty="0"/>
          </a:p>
          <a:p>
            <a:endParaRPr lang="en-IN" dirty="0"/>
          </a:p>
          <a:p>
            <a:endParaRPr lang="en-IN" dirty="0"/>
          </a:p>
        </p:txBody>
      </p:sp>
      <p:pic>
        <p:nvPicPr>
          <p:cNvPr id="1028" name="Picture 4" descr="What is Polymorphism in Java? Type of Polymorphism in Java with Example">
            <a:extLst>
              <a:ext uri="{FF2B5EF4-FFF2-40B4-BE49-F238E27FC236}">
                <a16:creationId xmlns:a16="http://schemas.microsoft.com/office/drawing/2014/main" id="{E960CE5E-EE3C-E095-6247-BF5553D2D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28020"/>
            <a:ext cx="5823857"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043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8D6453F5B7A341ACDA62DC3F68D470" ma:contentTypeVersion="6" ma:contentTypeDescription="Create a new document." ma:contentTypeScope="" ma:versionID="232c7fdbf57f051a3648b21996b8fea1">
  <xsd:schema xmlns:xsd="http://www.w3.org/2001/XMLSchema" xmlns:xs="http://www.w3.org/2001/XMLSchema" xmlns:p="http://schemas.microsoft.com/office/2006/metadata/properties" xmlns:ns3="b7b8f857-f9d1-45fe-a94b-5945a5e490ea" targetNamespace="http://schemas.microsoft.com/office/2006/metadata/properties" ma:root="true" ma:fieldsID="a13586acac8c99463a8558a895921aaa" ns3:_="">
    <xsd:import namespace="b7b8f857-f9d1-45fe-a94b-5945a5e490e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b8f857-f9d1-45fe-a94b-5945a5e490e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7b8f857-f9d1-45fe-a94b-5945a5e490ea" xsi:nil="true"/>
  </documentManagement>
</p:properties>
</file>

<file path=customXml/itemProps1.xml><?xml version="1.0" encoding="utf-8"?>
<ds:datastoreItem xmlns:ds="http://schemas.openxmlformats.org/officeDocument/2006/customXml" ds:itemID="{041D33F2-1A0B-42AF-A854-140DE1F31529}">
  <ds:schemaRefs>
    <ds:schemaRef ds:uri="http://schemas.microsoft.com/sharepoint/v3/contenttype/forms"/>
  </ds:schemaRefs>
</ds:datastoreItem>
</file>

<file path=customXml/itemProps2.xml><?xml version="1.0" encoding="utf-8"?>
<ds:datastoreItem xmlns:ds="http://schemas.openxmlformats.org/officeDocument/2006/customXml" ds:itemID="{DB29E63B-6E62-41D8-B036-363832342F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b8f857-f9d1-45fe-a94b-5945a5e490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97610B3-81AC-4349-8E1F-1F88AD62A4EC}">
  <ds:schemaRefs>
    <ds:schemaRef ds:uri="http://schemas.microsoft.com/office/2006/metadata/properties"/>
    <ds:schemaRef ds:uri="http://schemas.microsoft.com/office/2006/documentManagement/types"/>
    <ds:schemaRef ds:uri="http://purl.org/dc/elements/1.1/"/>
    <ds:schemaRef ds:uri="b7b8f857-f9d1-45fe-a94b-5945a5e490ea"/>
    <ds:schemaRef ds:uri="http://www.w3.org/XML/1998/namespace"/>
    <ds:schemaRef ds:uri="http://purl.org/dc/term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TM02900769[[fn=Retrospect]]</Template>
  <TotalTime>158</TotalTime>
  <Words>796</Words>
  <Application>Microsoft Office PowerPoint</Application>
  <PresentationFormat>Widescreen</PresentationFormat>
  <Paragraphs>100</Paragraphs>
  <Slides>9</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Aptos</vt:lpstr>
      <vt:lpstr>Aptos Display</vt:lpstr>
      <vt:lpstr>Arial</vt:lpstr>
      <vt:lpstr>Calibri</vt:lpstr>
      <vt:lpstr>Calibri Light</vt:lpstr>
      <vt:lpstr>Nunito</vt:lpstr>
      <vt:lpstr>Times New Roman</vt:lpstr>
      <vt:lpstr>Wingdings</vt:lpstr>
      <vt:lpstr>Office Theme</vt:lpstr>
      <vt:lpstr>Retrospect</vt:lpstr>
      <vt:lpstr>PowerPoint Presentation</vt:lpstr>
      <vt:lpstr>Final keyword in java</vt:lpstr>
      <vt:lpstr>PowerPoint Presentation</vt:lpstr>
      <vt:lpstr>Pillars of OOPs: </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Veena, S</dc:creator>
  <cp:lastModifiedBy>Veena, S</cp:lastModifiedBy>
  <cp:revision>1</cp:revision>
  <dcterms:created xsi:type="dcterms:W3CDTF">2025-01-03T03:56:55Z</dcterms:created>
  <dcterms:modified xsi:type="dcterms:W3CDTF">2025-01-06T12:11:37Z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0x0101007E8D6453F5B7A341ACDA62DC3F68D470</vt:lpwstr>
  </property>
</Properties>
</file>